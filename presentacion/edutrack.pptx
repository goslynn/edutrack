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60A5FA"/>
                </a:solidFill>
                <a:latin typeface="Calibri"/>
              </a:rPr>
              <a:t>COLEGIO BERNARDO O'HIGGINS · COQUIMBO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EduTrack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CBD5E1"/>
                </a:solidFill>
                <a:latin typeface="Calibri"/>
              </a:rPr>
              <a:t>Libro de Clases Digital — arquitectura de microservicios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94A3B8"/>
                </a:solidFill>
                <a:latin typeface="Calibri"/>
              </a:rPr>
              <a:t>DSY1106 · Desarrollo Fullstack III  |  Evaluación Parcial N°1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CBD5E1"/>
                </a:solidFill>
                <a:latin typeface="Calibri"/>
              </a:rPr>
              <a:t>Integrantes: {{ COMPLETAR NOMBRES }}   ·   {{ FECHA 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01 · CONTEXTO Y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El problema del colegio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5577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2563EB"/>
                </a:solidFill>
              </a:rPr>
              <a:t>•  </a:t>
            </a:r>
            <a:r>
              <a:rPr sz="1600" b="0">
                <a:solidFill>
                  <a:srgbClr val="0F172A"/>
                </a:solidFill>
              </a:rPr>
              <a:t>Libro de clases </a:t>
            </a:r>
            <a:r>
              <a:rPr sz="1600" b="1">
                <a:solidFill>
                  <a:srgbClr val="1E40AF"/>
                </a:solidFill>
              </a:rPr>
              <a:t>físico</a:t>
            </a:r>
            <a:r>
              <a:rPr sz="1600" b="0">
                <a:solidFill>
                  <a:srgbClr val="0F172A"/>
                </a:solidFill>
              </a:rPr>
              <a:t> + soluciones digitales </a:t>
            </a:r>
            <a:r>
              <a:rPr sz="1600" b="1">
                <a:solidFill>
                  <a:srgbClr val="1E40AF"/>
                </a:solidFill>
              </a:rPr>
              <a:t>fragmentadas</a:t>
            </a:r>
            <a:r>
              <a:rPr sz="1600" b="0">
                <a:solidFill>
                  <a:srgbClr val="0F172A"/>
                </a:solidFill>
              </a:rPr>
              <a:t>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563EB"/>
                </a:solidFill>
              </a:rPr>
              <a:t>•  </a:t>
            </a:r>
            <a:r>
              <a:rPr sz="1600" b="0">
                <a:solidFill>
                  <a:srgbClr val="0F172A"/>
                </a:solidFill>
              </a:rPr>
              <a:t>Información dispersa, sin historial consolidado ni acceso oportuno.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563EB"/>
                </a:solidFill>
              </a:rPr>
              <a:t>•  </a:t>
            </a:r>
            <a:r>
              <a:rPr sz="1600" b="0">
                <a:solidFill>
                  <a:srgbClr val="0F172A"/>
                </a:solidFill>
              </a:rPr>
              <a:t>Datos de </a:t>
            </a:r>
            <a:r>
              <a:rPr sz="1600" b="1">
                <a:solidFill>
                  <a:srgbClr val="1E40AF"/>
                </a:solidFill>
              </a:rPr>
              <a:t>menores de edad</a:t>
            </a:r>
            <a:r>
              <a:rPr sz="1600" b="0">
                <a:solidFill>
                  <a:srgbClr val="0F172A"/>
                </a:solidFill>
              </a:rPr>
              <a:t> → seguridad y trazabilidad (Ley 19.628).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563EB"/>
                </a:solidFill>
              </a:rPr>
              <a:t>•  </a:t>
            </a:r>
            <a:r>
              <a:rPr sz="1600" b="0">
                <a:solidFill>
                  <a:srgbClr val="0F172A"/>
                </a:solidFill>
              </a:rPr>
              <a:t>EduTrack: entorno seguro para </a:t>
            </a:r>
            <a:r>
              <a:rPr sz="1600" b="1">
                <a:solidFill>
                  <a:srgbClr val="1E40AF"/>
                </a:solidFill>
              </a:rPr>
              <a:t>docentes, administradores y apoderados.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737360"/>
            <a:ext cx="493776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874519"/>
            <a:ext cx="4480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Objetivos funcionales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377440"/>
            <a:ext cx="4480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</a:rPr>
              <a:t>•  </a:t>
            </a:r>
            <a:r>
              <a:rPr sz="1400" b="0">
                <a:solidFill>
                  <a:srgbClr val="0F172A"/>
                </a:solidFill>
              </a:rPr>
              <a:t>Auth con roles dinámicos y permisos configurables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</a:rPr>
              <a:t>•  </a:t>
            </a:r>
            <a:r>
              <a:rPr sz="1400" b="0">
                <a:solidFill>
                  <a:srgbClr val="0F172A"/>
                </a:solidFill>
              </a:rPr>
              <a:t>Cursos con acceso granular por docente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</a:rPr>
              <a:t>•  </a:t>
            </a:r>
            <a:r>
              <a:rPr sz="1400" b="0">
                <a:solidFill>
                  <a:srgbClr val="0F172A"/>
                </a:solidFill>
              </a:rPr>
              <a:t>Alumnos y apoderados (avisos por correo)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</a:rPr>
              <a:t>•  </a:t>
            </a:r>
            <a:r>
              <a:rPr sz="1400" b="0">
                <a:solidFill>
                  <a:srgbClr val="0F172A"/>
                </a:solidFill>
              </a:rPr>
              <a:t>Notas y asistencia por clase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</a:rPr>
              <a:t>•  </a:t>
            </a:r>
            <a:r>
              <a:rPr sz="1400" b="0">
                <a:solidFill>
                  <a:srgbClr val="0F172A"/>
                </a:solidFill>
              </a:rPr>
              <a:t>Anotaciones con notificación a apoderados</a:t>
            </a:r>
          </a:p>
          <a:p>
            <a:pPr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</a:rPr>
              <a:t>•  </a:t>
            </a:r>
            <a:r>
              <a:rPr sz="1400" b="0">
                <a:solidFill>
                  <a:srgbClr val="0F172A"/>
                </a:solidFill>
              </a:rPr>
              <a:t>Reportes JSON / CSV / PDF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02 · LO QUE PLANTEAMOS VS. DÓNDE ESTAMOS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Cambios en el camino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4297680"/>
              </a:tblGrid>
              <a:tr h="51435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Tema</a:t>
                      </a:r>
                    </a:p>
                  </a:txBody>
                  <a:tcPr marL="91440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Planteamos (entrega 1)</a:t>
                      </a:r>
                    </a:p>
                  </a:txBody>
                  <a:tcPr marL="91440" marT="27432" marB="27432" anchor="ctr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Dónde estamos hoy</a:t>
                      </a:r>
                    </a:p>
                  </a:txBody>
                  <a:tcPr marL="91440" marT="27432" marB="27432" anchor="ctr">
                    <a:solidFill>
                      <a:srgbClr val="2563EB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Orquestación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Kubernetes / Amazon EKS + HPA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Fly.io — cada MS es una app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Service discovery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Consul + DNS de K8s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Contrato de nombres vía *.fly.internal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API Gateway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Gateway genérico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OpenResty + Lua (jwt.lua)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Base de datos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Amazon RDS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PostgreSQL — shared DB + schema por MS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Permisos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(role, resource_uuid)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resource_key string estable &lt;svc&gt;.&lt;rec&gt;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Capa extra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BFF (TypeScript + Hono), no previsto</a:t>
                      </a:r>
                    </a:p>
                  </a:txBody>
                  <a:tcPr marL="91440" marT="27432" marB="27432" anchor="ctr">
                    <a:solidFill>
                      <a:srgbClr val="F1F5F9"/>
                    </a:solidFill>
                  </a:tcPr>
                </a:tc>
              </a:tr>
              <a:tr h="514350"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S3 · Notif · Report · Contenido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en el diseño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>
                          <a:solidFill>
                            <a:srgbClr val="0F172A"/>
                          </a:solidFill>
                          <a:latin typeface="Calibri"/>
                        </a:rPr>
                        <a:t>aún no implementados</a:t>
                      </a:r>
                    </a:p>
                  </a:txBody>
                  <a:tcPr marL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02 · ESTADO ACTUAL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Microservicios: 6 de 9 construidos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303520" cy="3017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6A34A"/>
                </a:solidFill>
                <a:latin typeface="Calibri"/>
              </a:rPr>
              <a:t>✅ Implementados y probados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>
                <a:solidFill>
                  <a:srgbClr val="0F172A"/>
                </a:solidFill>
              </a:rPr>
              <a:t>auth · course · student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>
                <a:solidFill>
                  <a:srgbClr val="0F172A"/>
                </a:solidFill>
              </a:rPr>
              <a:t>attendance · assessment · annotation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>
                <a:solidFill>
                  <a:srgbClr val="64748B"/>
                </a:solidFill>
              </a:rPr>
              <a:t>+ Gateway (OpenResty), BFF (Hono), front (React 19)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30175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65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64748B"/>
                </a:solidFill>
                <a:latin typeface="Calibri"/>
              </a:rPr>
              <a:t>⏳ Pendientes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146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>
                <a:solidFill>
                  <a:srgbClr val="0F172A"/>
                </a:solidFill>
              </a:rPr>
              <a:t>content · notification · report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>
                <a:solidFill>
                  <a:srgbClr val="64748B"/>
                </a:solidFill>
              </a:rPr>
              <a:t>Servicios satélite: contenido/S3, notificaciones async, reportes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40AF"/>
                </a:solidFill>
                <a:latin typeface="Calibri"/>
              </a:rPr>
              <a:t>Lectura honesta: </a:t>
            </a:r>
            <a:r>
              <a:rPr sz="1500" b="0">
                <a:solidFill>
                  <a:srgbClr val="0F172A"/>
                </a:solidFill>
                <a:latin typeface="Calibri"/>
              </a:rPr>
              <a:t>el núcleo de seguridad y dominio académico está construido y probado; faltan los servicios satélite.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03 · STACK FINAL E INFRAESTRUCTURA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Cómo está construido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Backend: </a:t>
            </a:r>
            <a:r>
              <a:rPr sz="1700" b="0">
                <a:solidFill>
                  <a:srgbClr val="0F172A"/>
                </a:solidFill>
              </a:rPr>
              <a:t>Quarkus 3.x + Java 21, Panache (Active Record), Flyway, Bean Validation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Gateway: </a:t>
            </a:r>
            <a:r>
              <a:rPr sz="1700" b="0">
                <a:solidFill>
                  <a:srgbClr val="0F172A"/>
                </a:solidFill>
              </a:rPr>
              <a:t>OpenResty + Lua — valida JWT RS256, propaga X-User-Id / X-User-Roles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BFF: </a:t>
            </a:r>
            <a:r>
              <a:rPr sz="1700" b="0">
                <a:solidFill>
                  <a:srgbClr val="0F172A"/>
                </a:solidFill>
              </a:rPr>
              <a:t>TypeScript + Hono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Frontend: </a:t>
            </a:r>
            <a:r>
              <a:rPr sz="1700" b="0">
                <a:solidFill>
                  <a:srgbClr val="0F172A"/>
                </a:solidFill>
              </a:rPr>
              <a:t>React 19 + Vite + Tailwind + shadcn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Datos: </a:t>
            </a:r>
            <a:r>
              <a:rPr sz="1700" b="0">
                <a:solidFill>
                  <a:srgbClr val="0F172A"/>
                </a:solidFill>
              </a:rPr>
              <a:t>PostgreSQL — shared DB, schema y credenciales por MS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Resiliencia: </a:t>
            </a:r>
            <a:r>
              <a:rPr sz="1700" b="0">
                <a:solidFill>
                  <a:srgbClr val="0F172A"/>
                </a:solidFill>
              </a:rPr>
              <a:t>SmallRye Fault Tolerance (Circuit Breaker)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2563EB"/>
                </a:solidFill>
              </a:rPr>
              <a:t>•  </a:t>
            </a:r>
            <a:r>
              <a:rPr sz="1700" b="1">
                <a:solidFill>
                  <a:srgbClr val="1E40AF"/>
                </a:solidFill>
              </a:rPr>
              <a:t>Hosting: </a:t>
            </a:r>
            <a:r>
              <a:rPr sz="1700" b="0">
                <a:solidFill>
                  <a:srgbClr val="0F172A"/>
                </a:solidFill>
              </a:rPr>
              <a:t>Fly.io · *.fly.internal · local: Docker 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03 · DIAGRAMA DE ARQUITECTURA</a:t>
            </a:r>
          </a:p>
        </p:txBody>
      </p:sp>
      <p:pic>
        <p:nvPicPr>
          <p:cNvPr id="3" name="Picture 2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64240" cy="60023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04 · CASO DESTACADO · PATRÓN DE DISEÑO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Toma de asistencia: principio Abierto/Cerrado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0F172A"/>
                </a:solidFill>
                <a:latin typeface="Calibri"/>
              </a:rPr>
              <a:t>Contrato de asistencia agnóstico al método de captura: web hoy, biometría/RFID mañana, sin reescribir el servicio.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468880"/>
            <a:ext cx="1078992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40AF"/>
                </a:solidFill>
                <a:latin typeface="Calibri"/>
              </a:rPr>
              <a:t>El patrón en una frase (Open/Closed Principle)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241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2563EB"/>
                </a:solidFill>
              </a:rPr>
              <a:t>•  </a:t>
            </a:r>
            <a:r>
              <a:rPr sz="1600" b="1">
                <a:solidFill>
                  <a:srgbClr val="1E40AF"/>
                </a:solidFill>
              </a:rPr>
              <a:t>Abierto a extensión: </a:t>
            </a:r>
            <a:r>
              <a:rPr sz="1600" b="0">
                <a:solidFill>
                  <a:srgbClr val="0F172A"/>
                </a:solidFill>
              </a:rPr>
              <a:t>un método de captura nuevo = un Adapter externo nuevo.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2563EB"/>
                </a:solidFill>
              </a:rPr>
              <a:t>•  </a:t>
            </a:r>
            <a:r>
              <a:rPr sz="1600" b="1">
                <a:solidFill>
                  <a:srgbClr val="1E40AF"/>
                </a:solidFill>
              </a:rPr>
              <a:t>Cerrado a modificación: </a:t>
            </a:r>
            <a:r>
              <a:rPr sz="1600" b="0">
                <a:solidFill>
                  <a:srgbClr val="0F172A"/>
                </a:solidFill>
              </a:rPr>
              <a:t>el microservicio de asistencia nunca cambia su código para soportarlo.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04 · FLUJO DE LA TOMA DE ASISTENCIA (ABIERTO/CERRADO)</a:t>
            </a:r>
          </a:p>
        </p:txBody>
      </p:sp>
      <p:pic>
        <p:nvPicPr>
          <p:cNvPr id="3" name="Picture 2" descr="toma-asist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60120"/>
            <a:ext cx="11064240" cy="6002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04 · PATRONES DE DISEÑO EN JUEGO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Qué patrones lo sostienen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6400800"/>
              </a:tblGrid>
              <a:tr h="6096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Patrón / principio</a:t>
                      </a:r>
                    </a:p>
                  </a:txBody>
                  <a:tcPr anchor="ctr" marL="109728" marT="27432" marB="27432">
                    <a:solidFill>
                      <a:srgbClr val="2563E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Cómo aparece aquí</a:t>
                      </a:r>
                    </a:p>
                  </a:txBody>
                  <a:tcPr anchor="ctr" marL="109728" marT="27432" marB="27432">
                    <a:solidFill>
                      <a:srgbClr val="2563EB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40AF"/>
                          </a:solidFill>
                          <a:latin typeface="Calibri"/>
                        </a:rPr>
                        <a:t>Open/Closed Principle (SOLID)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nuevo método de captura sin modificar el microservicio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40AF"/>
                          </a:solidFill>
                          <a:latin typeface="Calibri"/>
                        </a:rPr>
                        <a:t>Adapter</a:t>
                      </a:r>
                    </a:p>
                  </a:txBody>
                  <a:tcPr anchor="ctr" marL="109728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cada origen (biometría, RFID...) traduce su dato crudo al contrato normalizado</a:t>
                      </a:r>
                    </a:p>
                  </a:txBody>
                  <a:tcPr anchor="ctr" marL="109728" marT="27432" marB="27432"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40AF"/>
                          </a:solidFill>
                          <a:latin typeface="Calibri"/>
                        </a:rPr>
                        <a:t>DTO + Mapper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CreateRecordRequest -&gt; dominio -&gt; RecordResponse (capas desacopladas)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40AF"/>
                          </a:solidFill>
                          <a:latin typeface="Calibri"/>
                        </a:rPr>
                        <a:t>Guarda de estado (State)</a:t>
                      </a:r>
                    </a:p>
                  </a:txBody>
                  <a:tcPr anchor="ctr" marL="109728" marT="27432" marB="27432"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una sesión CLOSED rechaza nuevos registros (validateOpen())</a:t>
                      </a:r>
                    </a:p>
                  </a:txBody>
                  <a:tcPr anchor="ctr" marL="109728" marT="27432" marB="27432"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E40AF"/>
                          </a:solidFill>
                          <a:latin typeface="Calibri"/>
                        </a:rPr>
                        <a:t>Repository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F172A"/>
                          </a:solidFill>
                          <a:latin typeface="Calibri"/>
                        </a:rPr>
                        <a:t>acceso a datos detrás de AttendanceRecordRepository (Panache)</a:t>
                      </a:r>
                    </a:p>
                  </a:txBody>
                  <a:tcPr anchor="ctr" marL="10972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05 · TESTING UNITARIO — RESULTADOS REALES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206 tests backend · ~96% cobertura front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828800"/>
          <a:ext cx="50292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645920"/>
              </a:tblGrid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Servicio</a:t>
                      </a:r>
                    </a:p>
                  </a:txBody>
                  <a:tcPr anchor="ctr" marL="109728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anchor="ctr" marL="109728">
                    <a:solidFill>
                      <a:srgbClr val="2563E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62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student</a:t>
                      </a:r>
                    </a:p>
                  </a:txBody>
                  <a:tcPr anchor="ctr" marL="10972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anchor="ctr" marL="109728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attendance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assessment</a:t>
                      </a:r>
                    </a:p>
                  </a:txBody>
                  <a:tcPr anchor="ctr" marL="10972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anchor="ctr" marL="109728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course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annotation</a:t>
                      </a:r>
                    </a:p>
                  </a:txBody>
                  <a:tcPr anchor="ctr" marL="10972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F172A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anchor="ctr" marL="109728">
                    <a:solidFill>
                      <a:srgbClr val="F1F5F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109728"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172A"/>
                          </a:solidFill>
                          <a:latin typeface="Calibri"/>
                        </a:rPr>
                        <a:t>206 · 0 fallos</a:t>
                      </a:r>
                    </a:p>
                  </a:txBody>
                  <a:tcPr anchor="ctr" marL="109728"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309360" y="1828800"/>
            <a:ext cx="5120640" cy="3840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9659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6A34A"/>
                </a:solidFill>
                <a:latin typeface="Calibri"/>
              </a:rPr>
              <a:t>Frontend — cobertura (Vitest)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56032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1">
                <a:solidFill>
                  <a:srgbClr val="0F172A"/>
                </a:solidFill>
              </a:rPr>
              <a:t>Statements   </a:t>
            </a:r>
            <a:r>
              <a:rPr sz="1500" b="0">
                <a:solidFill>
                  <a:srgbClr val="0F172A"/>
                </a:solidFill>
              </a:rPr>
              <a:t>96.0%  (875/911)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1">
                <a:solidFill>
                  <a:srgbClr val="0F172A"/>
                </a:solidFill>
              </a:rPr>
              <a:t>Branches     </a:t>
            </a:r>
            <a:r>
              <a:rPr sz="1500" b="0">
                <a:solidFill>
                  <a:srgbClr val="0F172A"/>
                </a:solidFill>
              </a:rPr>
              <a:t>88.8%  (411/463)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1">
                <a:solidFill>
                  <a:srgbClr val="0F172A"/>
                </a:solidFill>
              </a:rPr>
              <a:t>Functions    </a:t>
            </a:r>
            <a:r>
              <a:rPr sz="1500" b="0">
                <a:solidFill>
                  <a:srgbClr val="0F172A"/>
                </a:solidFill>
              </a:rPr>
              <a:t>97.4%  (263/270)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1">
                <a:solidFill>
                  <a:srgbClr val="0F172A"/>
                </a:solidFill>
              </a:rPr>
              <a:t>Lines        </a:t>
            </a:r>
            <a:r>
              <a:rPr sz="1500" b="0">
                <a:solidFill>
                  <a:srgbClr val="0F172A"/>
                </a:solidFill>
              </a:rPr>
              <a:t>97.6%  (772/791)</a:t>
            </a:r>
          </a:p>
          <a:p>
            <a:pPr>
              <a:spcAft>
                <a:spcPts val="700"/>
              </a:spcAft>
            </a:pPr>
            <a:r>
              <a:rPr sz="1500" b="1">
                <a:solidFill>
                  <a:srgbClr val="2563EB"/>
                </a:solidFill>
              </a:rPr>
              <a:t>•  </a:t>
            </a:r>
            <a:r>
              <a:rPr sz="1500" b="0">
                <a:solidFill>
                  <a:srgbClr val="64748B"/>
                </a:solidFill>
              </a:rPr>
              <a:t>26 archivos de test · front/coverage/index.html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Calibri"/>
              </a:rPr>
              <a:t>06 · 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Calibri"/>
              </a:rPr>
              <a:t>Guion de la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900" b="1">
                <a:solidFill>
                  <a:srgbClr val="2563EB"/>
                </a:solidFill>
              </a:rPr>
              <a:t>•  </a:t>
            </a:r>
            <a:r>
              <a:rPr sz="1900" b="1">
                <a:solidFill>
                  <a:srgbClr val="2563EB"/>
                </a:solidFill>
              </a:rPr>
              <a:t>1.  </a:t>
            </a:r>
            <a:r>
              <a:rPr sz="1900" b="0">
                <a:solidFill>
                  <a:srgbClr val="0F172A"/>
                </a:solidFill>
              </a:rPr>
              <a:t>docker compose up → abrir el frontend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2563EB"/>
                </a:solidFill>
              </a:rPr>
              <a:t>•  </a:t>
            </a:r>
            <a:r>
              <a:rPr sz="1900" b="1">
                <a:solidFill>
                  <a:srgbClr val="2563EB"/>
                </a:solidFill>
              </a:rPr>
              <a:t>2.  </a:t>
            </a:r>
            <a:r>
              <a:rPr sz="1900" b="0">
                <a:solidFill>
                  <a:srgbClr val="0F172A"/>
                </a:solidFill>
              </a:rPr>
              <a:t>Login y manejo de sesión (JWT)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2563EB"/>
                </a:solidFill>
              </a:rPr>
              <a:t>•  </a:t>
            </a:r>
            <a:r>
              <a:rPr sz="1900" b="1">
                <a:solidFill>
                  <a:srgbClr val="2563EB"/>
                </a:solidFill>
              </a:rPr>
              <a:t>3.  </a:t>
            </a:r>
            <a:r>
              <a:rPr sz="1900" b="0">
                <a:solidFill>
                  <a:srgbClr val="0F172A"/>
                </a:solidFill>
              </a:rPr>
              <a:t>Abrir una sesión de clase y tomar asistencia (caso destacado en vivo)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2563EB"/>
                </a:solidFill>
              </a:rPr>
              <a:t>•  </a:t>
            </a:r>
            <a:r>
              <a:rPr sz="1900" b="1">
                <a:solidFill>
                  <a:srgbClr val="2563EB"/>
                </a:solidFill>
              </a:rPr>
              <a:t>4.  </a:t>
            </a:r>
            <a:r>
              <a:rPr sz="1900" b="0">
                <a:solidFill>
                  <a:srgbClr val="0F172A"/>
                </a:solidFill>
              </a:rPr>
              <a:t>Registrar nota / anotación con validación en tiempo real</a:t>
            </a:r>
          </a:p>
          <a:p>
            <a:pPr>
              <a:spcAft>
                <a:spcPts val="700"/>
              </a:spcAft>
            </a:pPr>
            <a:r>
              <a:rPr sz="1900" b="1">
                <a:solidFill>
                  <a:srgbClr val="2563EB"/>
                </a:solidFill>
              </a:rPr>
              <a:t>•  </a:t>
            </a:r>
            <a:r>
              <a:rPr sz="1900" b="1">
                <a:solidFill>
                  <a:srgbClr val="2563EB"/>
                </a:solidFill>
              </a:rPr>
              <a:t>5.  </a:t>
            </a:r>
            <a:r>
              <a:rPr sz="1900" b="0">
                <a:solidFill>
                  <a:srgbClr val="0F172A"/>
                </a:solidFill>
              </a:rPr>
              <a:t>Dashboard con estadísticas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486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Calibri"/>
              </a:rPr>
              <a:t>Páginas: dashboard · estudiantes · calificaciones · asistencia · anotaciones.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60A5FA"/>
                </a:solidFill>
                <a:latin typeface="Calibri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691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Calibri"/>
              </a:rPr>
              <a:t>En una frase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800" b="1">
                <a:solidFill>
                  <a:srgbClr val="2563EB"/>
                </a:solidFill>
              </a:rPr>
              <a:t>•  </a:t>
            </a:r>
            <a:r>
              <a:rPr sz="1800" b="0">
                <a:solidFill>
                  <a:srgbClr val="E2E8F0"/>
                </a:solidFill>
              </a:rPr>
              <a:t>Núcleo de seguridad y dominio académico construido y probado (206 tests).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63EB"/>
                </a:solidFill>
              </a:rPr>
              <a:t>•  </a:t>
            </a:r>
            <a:r>
              <a:rPr sz="1800" b="0">
                <a:solidFill>
                  <a:srgbClr val="E2E8F0"/>
                </a:solidFill>
              </a:rPr>
              <a:t>Arquitectura de microservicios desplegable en Fly.io, simple y sin Consul.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2563EB"/>
                </a:solidFill>
              </a:rPr>
              <a:t>•  </a:t>
            </a:r>
            <a:r>
              <a:rPr sz="1800" b="0">
                <a:solidFill>
                  <a:srgbClr val="E2E8F0"/>
                </a:solidFill>
              </a:rPr>
              <a:t>Pendientes claros: content, notification,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Gracias —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